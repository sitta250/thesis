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5852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constructor.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6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C&gt;O</a:t>
            </a:r>
            <a:pPr indent="0" marL="0">
              <a:buNone/>
            </a:pPr>
            <a:r>
              <a:rPr lang="en-US" sz="1800" b="1" dirty="0">
                <a:solidFill>
                  <a:srgbClr val="E633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NSTRUCTOR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0" y="201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12.05.2025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6720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Impact of the 2022 KZN Floods on Rail Freight Using Synthetic Control Methods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5120640"/>
            <a:ext cx="6720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Sitta Uttangkat
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Computer Science
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Supervisor(s): Prof. Hendro Wicaksono &amp; Precious Sephooko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Background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7556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4140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Research Gap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07238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0723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7307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7307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EDA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10972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1097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Causal Estimates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175564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17556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Robustness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241401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24140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307238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307238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Outlook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1005840"/>
            <a:ext cx="27432" cy="3383280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37490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E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3749040" cy="31089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35661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NATCOR: Gauteng → Durban &amp; Richards Bay (Africa's busiest export ports) [Havenga, 2021]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TFR operates ~20,000 km network; historically 200+ MT/year [Transnet AR, 2023]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Rail market share fell from 23% (2011) to 16% (2019) [Havenga, 2021]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Loco availability &lt;50% in some quarters pre-flood [Transnet AR, 2023]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9392" y="804672"/>
            <a:ext cx="37490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E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804672"/>
            <a:ext cx="3749040" cy="31089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841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2022 KZN FLOODS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70832" y="1188720"/>
            <a:ext cx="35661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Worst flooding in KZN recorded history [NDMC, 2022]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400+ fatalities; 40,000+ displaced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Durban port disrupted for weeks; multi-week container backlogs [SAAFF, 2022]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NATCOR embankments washed away; signalling destroyed [Transnet, 2022]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38744" y="804672"/>
            <a:ext cx="37490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E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804672"/>
            <a:ext cx="3749040" cy="31089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841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0184" y="1188720"/>
            <a:ext cx="35661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Naive before/after conflates flood with concurrent confounders [Pearl, 2009]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Confounders: load-shedding, GDP decline, cable theft [Abadie et al., 2010]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credible counterfactual: what would NATCOR have been without the flood?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time-series forecasting cannot answer causal questions [Hyndman, 2018]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187952"/>
            <a:ext cx="11567160" cy="603504"/>
          </a:xfrm>
          <a:prstGeom prst="rect">
            <a:avLst/>
          </a:prstGeom>
          <a:solidFill>
            <a:srgbClr val="FDE8E4"/>
          </a:solidFill>
          <a:ln w="12700">
            <a:solidFill>
              <a:srgbClr val="E8A8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279392"/>
            <a:ext cx="11347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By how much did the 2022 KZN floods causally reduce NATCOR freight volumes, and for how long did the effect persist?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and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685800" cy="566928"/>
          </a:xfrm>
          <a:prstGeom prst="ellipse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9611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88696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 of April 2022 KZN floods on monthly NATCOR freight volume — across 5 SCM-family estimators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435608"/>
            <a:ext cx="11512296" cy="27432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130552"/>
            <a:ext cx="685800" cy="566928"/>
          </a:xfrm>
          <a:prstGeom prst="ellipse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15798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214884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SCM estimates to donor pool size — minimum pool for consistent counterfactual estimation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2697480"/>
            <a:ext cx="11512296" cy="27432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3392424"/>
            <a:ext cx="685800" cy="566928"/>
          </a:xfrm>
          <a:prstGeom prst="ellipse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419856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7008" y="3410712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perturbations — pre-period window, donor pool composition, hyperparameters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59352"/>
            <a:ext cx="11512296" cy="27432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4654296"/>
            <a:ext cx="685800" cy="566928"/>
          </a:xfrm>
          <a:prstGeom prst="ellipse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68172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4672584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freight volume loss and economic cost — implications for infrastructure resilience policy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27632" y="804672"/>
            <a:ext cx="1051560" cy="9144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832104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828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2231136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SCM estimators compared on same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SCM, ASCM, EN-SCM, MC-SCM, SDID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Common protocol; replicable benchmark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[Ben-Michael et al., 2021; Abadie et al., 2010]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86984" y="804672"/>
            <a:ext cx="1051560" cy="9144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832104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06824" y="1828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98264" y="2231136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causal estimate of 2022 KZN flood on NATCOR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Cumulative loss: ~5.17 MT over 33 months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across all 5 estimators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[Abadie et al., 2010; Cavallo et al., 2013]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46336" y="804672"/>
            <a:ext cx="1051560" cy="9144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46336" y="832104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66176" y="1828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57616" y="2231136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Donor pool inadequacy demonstrated empirically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1-donor: estimates span 15 MT (incoherent)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5-donor: span narrows to 0.15 MT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[Abadie &amp; Gardeazabal, 2003]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and Research Gap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377440" cy="3657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804672"/>
            <a:ext cx="1554480" cy="3657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8412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804672"/>
            <a:ext cx="1417320" cy="3657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8412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804672"/>
            <a:ext cx="822960" cy="3657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8412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804672"/>
            <a:ext cx="822960" cy="3657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8412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804672"/>
            <a:ext cx="2743200" cy="3657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8412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170432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207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Abadie et al. (2003)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1170432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12070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Economics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1170432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12070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17043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120700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117043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20700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1170432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2070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donor pool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1536192"/>
            <a:ext cx="237744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15727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Abadie et al. (2010)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97480" y="1536192"/>
            <a:ext cx="155448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1572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51960" y="1536192"/>
            <a:ext cx="141732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15727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1536192"/>
            <a:ext cx="82296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15727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1536192"/>
            <a:ext cx="82296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15727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1536192"/>
            <a:ext cx="274320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15727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weighting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1901952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9385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Ben-Michael et al. (2021)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97480" y="1901952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19385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51960" y="1901952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19385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0" y="190195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193852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92240" y="190195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193852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0" y="1901952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60920" y="1938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w/ few donors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2267712"/>
            <a:ext cx="237744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2304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Arkhangelsky et al. (2021)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697480" y="2267712"/>
            <a:ext cx="155448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0" y="23042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51960" y="2267712"/>
            <a:ext cx="141732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23042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669280" y="2267712"/>
            <a:ext cx="82296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15000" y="23042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92240" y="2267712"/>
            <a:ext cx="82296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37960" y="230428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15200" y="2267712"/>
            <a:ext cx="274320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60920" y="23042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balanced panel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" y="2633472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2670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Athey et al. (2021)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697480" y="2633472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0" y="26700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251960" y="2633472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7680" y="267004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MC-SCM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669280" y="263347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15000" y="26700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92240" y="263347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26700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315200" y="2633472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360920" y="26700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cross-sectional var.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" y="2999232"/>
            <a:ext cx="237744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30358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Havenga et al. (2021)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697480" y="2999232"/>
            <a:ext cx="155448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0" y="303580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Freight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251960" y="2999232"/>
            <a:ext cx="141732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97680" y="303580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Model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669280" y="2999232"/>
            <a:ext cx="82296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715000" y="303580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492240" y="2999232"/>
            <a:ext cx="82296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37960" y="303580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315200" y="2999232"/>
            <a:ext cx="2743200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60920" y="30358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identification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20040" y="3364992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65760" y="34015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Stander et al. (2005)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697480" y="3364992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0" y="34015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Freight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251960" y="3364992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97680" y="34015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669280" y="336499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715000" y="34015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492240" y="3364992"/>
            <a:ext cx="822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34015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315200" y="3364992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60920" y="34015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descriptive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320040" y="3730752"/>
            <a:ext cx="2377440" cy="365760"/>
          </a:xfrm>
          <a:prstGeom prst="rect">
            <a:avLst/>
          </a:prstGeom>
          <a:solidFill>
            <a:srgbClr val="C5E3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65760" y="3767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2697480" y="3730752"/>
            <a:ext cx="1554480" cy="365760"/>
          </a:xfrm>
          <a:prstGeom prst="rect">
            <a:avLst/>
          </a:prstGeom>
          <a:solidFill>
            <a:srgbClr val="C5E3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743200" y="37673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Rail Freight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4251960" y="3730752"/>
            <a:ext cx="1417320" cy="365760"/>
          </a:xfrm>
          <a:prstGeom prst="rect">
            <a:avLst/>
          </a:prstGeom>
          <a:solidFill>
            <a:srgbClr val="C5E3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97680" y="37673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family (5)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5669280" y="3730752"/>
            <a:ext cx="822960" cy="365760"/>
          </a:xfrm>
          <a:prstGeom prst="rect">
            <a:avLst/>
          </a:prstGeom>
          <a:solidFill>
            <a:srgbClr val="C5E3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715000" y="376732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492240" y="3730752"/>
            <a:ext cx="822960" cy="365760"/>
          </a:xfrm>
          <a:prstGeom prst="rect">
            <a:avLst/>
          </a:prstGeom>
          <a:solidFill>
            <a:srgbClr val="C5E3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537960" y="376732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7315200" y="3730752"/>
            <a:ext cx="2743200" cy="365760"/>
          </a:xfrm>
          <a:prstGeom prst="rect">
            <a:avLst/>
          </a:prstGeom>
          <a:solidFill>
            <a:srgbClr val="C5E3F5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360920" y="37673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treated corridor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320040" y="5102352"/>
            <a:ext cx="11567160" cy="658368"/>
          </a:xfrm>
          <a:prstGeom prst="rect">
            <a:avLst/>
          </a:prstGeom>
          <a:solidFill>
            <a:srgbClr val="FDE8E4"/>
          </a:solidFill>
          <a:ln w="12700">
            <a:solidFill>
              <a:srgbClr val="E8A89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29768" y="5193792"/>
            <a:ext cx="11347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existing study applies a causal counterfactual to a specific SA rail infrastructure shock [Havenga, 2021; Stander, 2005] — this thesis fills all four dimensions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Analytical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E8F4FB"/>
          </a:solidFill>
          <a:ln w="15240">
            <a:solidFill>
              <a:srgbClr val="006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0" y="1481328"/>
            <a:ext cx="91440" cy="54864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4792" y="914400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E8F4FB"/>
          </a:solidFill>
          <a:ln w="15240">
            <a:solidFill>
              <a:srgbClr val="006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4792" y="987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64792" y="1298448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90672" y="1481328"/>
            <a:ext cx="91440" cy="54864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914400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E8F4FB"/>
          </a:solidFill>
          <a:ln w="15240">
            <a:solidFill>
              <a:srgbClr val="006E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987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9544" y="1298448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35424" y="1481328"/>
            <a:ext cx="91440" cy="54864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4296" y="914400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D5EEF9"/>
          </a:solidFill>
          <a:ln w="15240">
            <a:solidFill>
              <a:srgbClr val="006E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987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54296" y="1298448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0176" y="1481328"/>
            <a:ext cx="91440" cy="54864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9048" y="914400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D5EEF9"/>
          </a:solidFill>
          <a:ln w="15240">
            <a:solidFill>
              <a:srgbClr val="006E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987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99048" y="1298448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Eval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24928" y="1481328"/>
            <a:ext cx="91440" cy="54864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914400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D5EEF9"/>
          </a:solidFill>
          <a:ln w="15240">
            <a:solidFill>
              <a:srgbClr val="006E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987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43800" y="1298448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69680" y="1481328"/>
            <a:ext cx="91440" cy="54864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88552" y="914400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BEE3F8"/>
          </a:solidFill>
          <a:ln w="15240">
            <a:solidFill>
              <a:srgbClr val="006E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88552" y="987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88552" y="1298448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314432" y="1481328"/>
            <a:ext cx="91440" cy="54864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33304" y="914400"/>
            <a:ext cx="1316736" cy="1188720"/>
          </a:xfrm>
          <a:prstGeom prst="roundRect">
            <a:avLst>
              <a:gd name="adj" fmla="val 6154"/>
            </a:avLst>
          </a:prstGeom>
          <a:solidFill>
            <a:srgbClr val="BEE3F8"/>
          </a:solidFill>
          <a:ln w="15240">
            <a:solidFill>
              <a:srgbClr val="006E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33304" y="987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433304" y="1298448"/>
            <a:ext cx="131673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Repro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2240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PREPARATORY (Steps 1–5)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2240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DISCOVERY &amp; EVALUATION (Steps 6–8)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9828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&amp; VALIDATION (Steps 9–11)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2651760"/>
            <a:ext cx="11567160" cy="27432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2788920"/>
            <a:ext cx="2788920" cy="155448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834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1480" y="3145536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SA rail corridors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months (2015–2024)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corridor-month obs.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46120" y="2788920"/>
            <a:ext cx="2788920" cy="155448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2834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37560" y="3145536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NATCOR corridor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April 2022 KZN floods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87 months | Post: 33 months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72200" y="2788920"/>
            <a:ext cx="2788920" cy="155448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834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Estimators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63640" y="3145536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SCM · ASCM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EN-SCM · MC-SCM · SDID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protocol &amp; donor pool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098280" y="2788920"/>
            <a:ext cx="2788920" cy="155448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2834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89720" y="3145536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rail freight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(million tonnes)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ATT reported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Five SCM-Family Estimators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212848" cy="42062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225296"/>
            <a:ext cx="2212848" cy="237744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2029968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least-squares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(simplex)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Pre-RMSPE: 0.026 MT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SOUTHCOR (46%), NE (24%), CAPE (22%)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42616" y="804672"/>
            <a:ext cx="2212848" cy="420624"/>
          </a:xfrm>
          <a:prstGeom prst="rect">
            <a:avLst/>
          </a:prstGeom>
          <a:solidFill>
            <a:srgbClr val="1A8FAA"/>
          </a:solidFill>
          <a:ln w="12700">
            <a:solidFill>
              <a:srgbClr val="1A8F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2616" y="8229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42616" y="1225296"/>
            <a:ext cx="2212848" cy="237744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34056" y="1298448"/>
            <a:ext cx="2029968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SCM + ridge bias-correction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100 (CV-selected)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shrunk ~0 due to excellent pre-fit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5192" y="804672"/>
            <a:ext cx="2212848" cy="420624"/>
          </a:xfrm>
          <a:prstGeom prst="rect">
            <a:avLst/>
          </a:prstGeom>
          <a:solidFill>
            <a:srgbClr val="178A6E"/>
          </a:solidFill>
          <a:ln w="12700">
            <a:solidFill>
              <a:srgbClr val="178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8229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EN-SCM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65192" y="1225296"/>
            <a:ext cx="2212848" cy="237744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1298448"/>
            <a:ext cx="2029968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penalty (L1+L2)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a=0.0005, rho=0.25 (CV)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donors active, HHI=0.315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87768" y="804672"/>
            <a:ext cx="2212848" cy="420624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87768" y="8229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MC-SCM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87768" y="1225296"/>
            <a:ext cx="2212848" cy="237744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9208" y="1298448"/>
            <a:ext cx="2029968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completion via SVT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lambda=0.2, effective rank=4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Pre-RMSPE = 0 by construction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10344" y="804672"/>
            <a:ext cx="2212848" cy="420624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10344" y="82296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10344" y="1225296"/>
            <a:ext cx="2212848" cy="2377440"/>
          </a:xfrm>
          <a:prstGeom prst="rect">
            <a:avLst/>
          </a:prstGeom>
          <a:solidFill>
            <a:srgbClr val="F4F6F8"/>
          </a:solidFill>
          <a:ln w="10160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01784" y="1298448"/>
            <a:ext cx="2029968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time weights jointly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Jackknife SE: 0.0024 MT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[-5.39, -5.08] MT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767328"/>
            <a:ext cx="11567160" cy="1417320"/>
          </a:xfrm>
          <a:prstGeom prst="rect">
            <a:avLst/>
          </a:prstGeom>
          <a:solidFill>
            <a:srgbClr val="EEF6FB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03904"/>
            <a:ext cx="11292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Setup — Parallel Trends Identification [Abadie et al., 2010]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112928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Treatment: D_t = 1 for NATCOR, t &gt;= April 2022    |    Donor pool: CAPE, IRON_ORE, NE_CORRIDOR, NORTHCOR, SOUTHCOR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Assumption: absent the flood, NATCOR would track a weighted combination of donor corridors [Abadie et al., 2010]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Confounders controlled via donor matching: load-shedding, GDP, fuel prices, security incidents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Exploratory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pic>
        <p:nvPicPr>
          <p:cNvPr id="6" name="Image 0" descr="/sessions/blissful-clever-goldberg/mnt/outputs/pptx_build/fig_eda_all_corrid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49808"/>
            <a:ext cx="7178040" cy="3566160"/>
          </a:xfrm>
          <a:prstGeom prst="rect">
            <a:avLst/>
          </a:prstGeom>
        </p:spPr>
      </p:pic>
      <p:pic>
        <p:nvPicPr>
          <p:cNvPr id="7" name="Image 1" descr="/sessions/blissful-clever-goldberg/mnt/outputs/pptx_build/fig_eda_natcor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749808"/>
            <a:ext cx="429768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4462272"/>
            <a:ext cx="11567160" cy="749808"/>
          </a:xfrm>
          <a:prstGeom prst="rect">
            <a:avLst/>
          </a:prstGeom>
          <a:solidFill>
            <a:srgbClr val="FDE8E4"/>
          </a:solidFill>
          <a:ln w="12700">
            <a:solidFill>
              <a:srgbClr val="E8A89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9768" y="4553712"/>
            <a:ext cx="11347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NATCOR level shift from Apr 2022 not matched by any other corridor — key identifying variation [Abadie et al., 2010]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Pre-flood: 3.94 MT/month → Post-flood: 3.63 MT/month (raw -7.9%)    |    COVID dip (2020) visible across all corridors — handled by SDID time weights [Arkhangelsky et al., 2021]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Why the Donor Pool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pic>
        <p:nvPicPr>
          <p:cNvPr id="6" name="Image 0" descr="/sessions/blissful-clever-goldberg/mnt/outputs/pptx_build/fig_dono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68096"/>
            <a:ext cx="65836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59168" y="768096"/>
            <a:ext cx="1389888" cy="420624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04888" y="82296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49056" y="768096"/>
            <a:ext cx="1389888" cy="420624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94776" y="82296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1-Donor (MT)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838944" y="768096"/>
            <a:ext cx="1389888" cy="420624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84664" y="82296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5-Donor (MT)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59168" y="1188720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04888" y="124358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49056" y="1188720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94776" y="124358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−11.10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838944" y="1188720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84664" y="124358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−5.21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59168" y="1609344"/>
            <a:ext cx="1389888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04888" y="16642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449056" y="1609344"/>
            <a:ext cx="1389888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94776" y="16642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+3.68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838944" y="1609344"/>
            <a:ext cx="1389888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84664" y="1664208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−5.11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059168" y="2029968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04888" y="208483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EN-SCM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449056" y="2029968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94776" y="208483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−1.46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838944" y="2029968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84664" y="2084832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−5.21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059168" y="2450592"/>
            <a:ext cx="1389888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04888" y="250545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MC-SCM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449056" y="2450592"/>
            <a:ext cx="1389888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94776" y="250545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−2.94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838944" y="2450592"/>
            <a:ext cx="1389888" cy="420624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84664" y="2505456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−5.08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059168" y="2871216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04888" y="292608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449056" y="2871216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94776" y="292608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−6.87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838944" y="2871216"/>
            <a:ext cx="138988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84664" y="292608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−5.24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059168" y="3291840"/>
            <a:ext cx="1389888" cy="420624"/>
          </a:xfrm>
          <a:prstGeom prst="rect">
            <a:avLst/>
          </a:prstGeom>
          <a:solidFill>
            <a:srgbClr val="FFF3CD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04888" y="334670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449056" y="3291840"/>
            <a:ext cx="1389888" cy="420624"/>
          </a:xfrm>
          <a:prstGeom prst="rect">
            <a:avLst/>
          </a:prstGeom>
          <a:solidFill>
            <a:srgbClr val="FFF3CD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494776" y="334670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MT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9838944" y="3291840"/>
            <a:ext cx="1389888" cy="420624"/>
          </a:xfrm>
          <a:prstGeom prst="rect">
            <a:avLst/>
          </a:prstGeom>
          <a:solidFill>
            <a:srgbClr val="FFF3CD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884664" y="3346704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MT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320040" y="4425696"/>
            <a:ext cx="11567160" cy="749808"/>
          </a:xfrm>
          <a:prstGeom prst="rect">
            <a:avLst/>
          </a:prstGeom>
          <a:solidFill>
            <a:srgbClr val="FDE8E4"/>
          </a:solidFill>
          <a:ln w="12700">
            <a:solidFill>
              <a:srgbClr val="E8A89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29768" y="4517136"/>
            <a:ext cx="11347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donor: estimates span ~15 MT, methods disagree in sign — donor pool fails pre-period fit (RMSPE ~0.49 MT) [Abadie &amp; Gardeazabal, 2003]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donors: all methods converge to 0.15 MT band (pre-RMSPE = 0.026 MT) — estimator coherence is a consequence of donor pool adequacy [Ben-Michael et al., 2021]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Synthetic Counterfactual &amp; Causal Estimates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pic>
        <p:nvPicPr>
          <p:cNvPr id="6" name="Image 0" descr="/sessions/blissful-clever-goldberg/mnt/outputs/pptx_build/fig_master_counterf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68096"/>
            <a:ext cx="73152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0" y="768096"/>
            <a:ext cx="4041648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73568" y="822960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5-Donor Consensus Results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91856" y="12435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RMSPE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400032" y="12435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 MT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89920" y="1243584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0.7% of mean)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91856" y="1609344"/>
            <a:ext cx="3785616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91856" y="17099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ATT/month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00032" y="17099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−0.157 MT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789920" y="170992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across 5 methods)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91856" y="2075688"/>
            <a:ext cx="3785616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91856" y="21762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400032" y="21762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−5.17 MT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789920" y="2176272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(33 months)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91856" y="2542032"/>
            <a:ext cx="3785616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91856" y="26426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00032" y="26426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MT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789920" y="2642616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5 estimators)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91856" y="3008376"/>
            <a:ext cx="3785616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91856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400032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~ZAR 1.28 B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789920" y="3108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ZAR 250/tonne)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" y="4425696"/>
            <a:ext cx="11567160" cy="749808"/>
          </a:xfrm>
          <a:prstGeom prst="rect">
            <a:avLst/>
          </a:prstGeom>
          <a:solidFill>
            <a:srgbClr val="FDE8E4"/>
          </a:solidFill>
          <a:ln w="12700">
            <a:solidFill>
              <a:srgbClr val="E8A89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9768" y="4517136"/>
            <a:ext cx="11347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uniformly negative across all 33 post-flood months in every estimator — no recovery by Dec 2024 [Cavallo et al., 2013]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Persists beyond physical repair window (~6-9 months) — consistent with demand-side hysteresis and modal diversion to road [Stander, 2005]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Robustness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pic>
        <p:nvPicPr>
          <p:cNvPr id="6" name="Image 0" descr="/sessions/blissful-clever-goldberg/mnt/outputs/pptx_build/fig_consensus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68096"/>
            <a:ext cx="5303520" cy="3017520"/>
          </a:xfrm>
          <a:prstGeom prst="rect">
            <a:avLst/>
          </a:prstGeom>
        </p:spPr>
      </p:pic>
      <p:pic>
        <p:nvPicPr>
          <p:cNvPr id="7" name="Image 1" descr="/sessions/blissful-clever-goldberg/mnt/outputs/pptx_build/fig_placebo_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768096"/>
            <a:ext cx="6016752" cy="3017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840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Effect — All 5 Estimators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852160" y="3840480"/>
            <a:ext cx="6016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In-Time Placebo Tests — True effect exceeds all 5 placebo dates in every method (0/5 exceedances)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4206240"/>
            <a:ext cx="11567160" cy="310896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224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97680" y="4224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138160" y="4224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4517136"/>
            <a:ext cx="3822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572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(5 fake dates)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60520" y="4517136"/>
            <a:ext cx="3822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97680" y="4572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 exceedances, all methods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01000" y="4517136"/>
            <a:ext cx="3822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38160" y="4572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effect largest in every estimator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20040" y="4901184"/>
            <a:ext cx="3822192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4956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donors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160520" y="4901184"/>
            <a:ext cx="3822192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97680" y="4956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0.036–0.149 MT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001000" y="4901184"/>
            <a:ext cx="3822192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38160" y="4956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corridor drives the result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20040" y="5285232"/>
            <a:ext cx="3822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" y="5340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SDID Jackknife 95% CI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160520" y="5285232"/>
            <a:ext cx="3822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297680" y="5340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[-5.39, -5.08] MT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001000" y="5285232"/>
            <a:ext cx="382219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138160" y="5340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zero by wide margin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20040" y="5669280"/>
            <a:ext cx="3822192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57200" y="57241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MC-SCM Bootstrap 95% CI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160520" y="5669280"/>
            <a:ext cx="3822192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297680" y="57241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[-5.21, -4.95] MT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001000" y="5669280"/>
            <a:ext cx="3822192" cy="365760"/>
          </a:xfrm>
          <a:prstGeom prst="rect">
            <a:avLst/>
          </a:prstGeom>
          <a:solidFill>
            <a:srgbClr val="F4F6F8"/>
          </a:solidFill>
          <a:ln w="6350">
            <a:solidFill>
              <a:srgbClr val="D1D9E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138160" y="57241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SDID CI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62356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E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5623560" cy="31089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ATT: -0.157 MT/month; cumulative -5.17 MT (33 months) [all 5 estimators]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0/5 placebo exceedances; LOO spread &lt; 0.15 MT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recovery by Dec 2024 — persistent gap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Donor adequacy: precondition for estimator coherence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08192" y="804672"/>
            <a:ext cx="562356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E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08192" y="804672"/>
            <a:ext cx="5623560" cy="31089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84124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TO LITERATURE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9632" y="1188720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with Cavallo et al. (2013): disaster effects outlast repair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SA freight SCM application [vs. Havenga, 2021; Stander, 2005]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Operationalises multi-estimator recommendation [Ben-Michael et al., 2021]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Confirms donor pool warning [Abadie &amp; Gardeazabal, 2003]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364992"/>
            <a:ext cx="562356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E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364992"/>
            <a:ext cx="5623560" cy="31089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0156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ZAR 1.28B revenue loss = lower bound for resilience cost-benefit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Demand-side recovery needed — not just physical repair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Tariff incentives to retain shippers during repair window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Pre-RMSPE &lt; 5% of mean = minimum SCM credibility threshold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08192" y="3364992"/>
            <a:ext cx="562356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E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3364992"/>
            <a:ext cx="5623560" cy="31089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340156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3749040"/>
            <a:ext cx="5440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5-corridor donor pool; no international donors available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Aggregate monthly volume — no commodity disaggregation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trends untestable post-flood [Abadie et al., 2010]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Concurrent shocks (loco crisis) cannot be fully ruled out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Persistence of the Flood Effect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3200400" cy="21945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persistent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EC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822960"/>
            <a:ext cx="3017520" cy="2194560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8686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−4.0%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3749040" y="214884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throughput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vs. counterfactual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95160" y="822960"/>
            <a:ext cx="4864608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8869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doesn't the gap close after repairs?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261872"/>
            <a:ext cx="45720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Repairs complete ~6-9 months post-flood; gap persists all 33 months [Transnet AR, 2023]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 hysteresis: shippers diverted to road, contracts renegotiated — did not return [Havenga, 2021]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degradation: flood worsened pre-existing loco/track deterioration [Transnet AR, 2023]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Structural break, not temporary shock [Cavallo et al., 2013]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11567160" cy="1097280"/>
          </a:xfrm>
          <a:prstGeom prst="rect">
            <a:avLst/>
          </a:prstGeom>
          <a:solidFill>
            <a:srgbClr val="FDE8E4"/>
          </a:solidFill>
          <a:ln w="12700">
            <a:solidFill>
              <a:srgbClr val="E8A8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291840"/>
            <a:ext cx="113477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Resilience investment must address demand-side recovery (tariff incentives), not just physical reconstruction [Stander, 2005]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Pre-emptive embankment/signalling hardening: cost &lt; ZAR 1.28B loss — passes cost-benefit test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731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Outlook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0" y="65653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3767328" cy="38404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35024"/>
            <a:ext cx="182880" cy="18288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61872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120-month panel of 6 SA rail corridors (2015–2024)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231136"/>
            <a:ext cx="182880" cy="18288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57984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5 SCM-family estimators under a common protocol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127248"/>
            <a:ext cx="182880" cy="18288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54096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placebo, LOO, jackknife, and bootstrap robustness tests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4023360"/>
            <a:ext cx="182880" cy="18288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950208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1-donor vs 5-donor incoherence empirically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9392" y="804672"/>
            <a:ext cx="3767328" cy="384048"/>
          </a:xfrm>
          <a:prstGeom prst="rect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822960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70832" y="1335024"/>
            <a:ext cx="182880" cy="182880"/>
          </a:xfrm>
          <a:prstGeom prst="ellipse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261872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cumulative loss: −5.17 MT over 33 months (−4.0% throughput)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0832" y="2231136"/>
            <a:ext cx="182880" cy="182880"/>
          </a:xfrm>
          <a:prstGeom prst="ellipse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157984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methods pass placebo with 0/5 exceedances; LOO spread &lt; 0.15 MT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70832" y="3127248"/>
            <a:ext cx="182880" cy="182880"/>
          </a:xfrm>
          <a:prstGeom prst="ellipse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054096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revenue loss to Transnet: ~ZAR 1.28 billion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0832" y="4023360"/>
            <a:ext cx="182880" cy="182880"/>
          </a:xfrm>
          <a:prstGeom prst="ellipse">
            <a:avLst/>
          </a:prstGeom>
          <a:solidFill>
            <a:srgbClr val="006EA6"/>
          </a:solidFill>
          <a:ln w="12700">
            <a:solidFill>
              <a:srgbClr val="006E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3950208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full recovery by December 2024 — persistent hysteresis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38744" y="804672"/>
            <a:ext cx="3767328" cy="384048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822960"/>
            <a:ext cx="3584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done next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30184" y="1335024"/>
            <a:ext cx="182880" cy="182880"/>
          </a:xfrm>
          <a:prstGeom prst="ellipse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86216" y="1261872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Commodity-level / O-D disaggregation to identify heterogeneous effects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30184" y="2231136"/>
            <a:ext cx="182880" cy="182880"/>
          </a:xfrm>
          <a:prstGeom prst="ellipse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86216" y="2157984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donor pool to international emerging-market rail operators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30184" y="3127248"/>
            <a:ext cx="182880" cy="182880"/>
          </a:xfrm>
          <a:prstGeom prst="ellipse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86216" y="3054096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treatment effect models (local projections) for recovery trajectory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20040" y="5230368"/>
            <a:ext cx="11567160" cy="566928"/>
          </a:xfrm>
          <a:prstGeom prst="rect">
            <a:avLst/>
          </a:prstGeom>
          <a:solidFill>
            <a:srgbClr val="FDE8E4"/>
          </a:solidFill>
          <a:ln w="12700">
            <a:solidFill>
              <a:srgbClr val="E8A8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5321808"/>
            <a:ext cx="11347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Climate models project rising extreme precipitation in southern Africa [IPCC, 2022] — infrastructure shocks will recur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SCM-family framework here is replicable for any single-unit infrastructure disruption study [Abadie et al., 2010]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5852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constructor.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6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E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C&gt;O</a:t>
            </a:r>
            <a:pPr indent="0" marL="0">
              <a:buNone/>
            </a:pPr>
            <a:r>
              <a:rPr lang="en-US" sz="1800" b="1" dirty="0">
                <a:solidFill>
                  <a:srgbClr val="E633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NSTRUCTOR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" y="530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2560320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7472" y="3383280"/>
            <a:ext cx="6720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Sitta Uttangkat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3712464"/>
            <a:ext cx="6720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Supervisor(s): Prof. Hendro Wicaksono &amp; Precious Sephooko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201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12.05.2025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2026-05-10T21:22:03Z</dcterms:created>
  <dcterms:modified xsi:type="dcterms:W3CDTF">2026-05-10T21:22:03Z</dcterms:modified>
</cp:coreProperties>
</file>